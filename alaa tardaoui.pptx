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6" d="100"/>
          <a:sy n="76" d="100"/>
        </p:scale>
        <p:origin x="72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4DDF0F-DE89-433B-A2F1-AA0F482978E6}" type="datetimeFigureOut">
              <a:rPr lang="fr-MA" smtClean="0"/>
              <a:t>13/05/2026</a:t>
            </a:fld>
            <a:endParaRPr lang="fr-M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41E98A-BCBF-48A8-AA1E-B7F3420F6829}" type="slidenum">
              <a:rPr lang="fr-MA" smtClean="0"/>
              <a:t>‹N°›</a:t>
            </a:fld>
            <a:endParaRPr lang="fr-MA"/>
          </a:p>
        </p:txBody>
      </p:sp>
    </p:spTree>
    <p:extLst>
      <p:ext uri="{BB962C8B-B14F-4D97-AF65-F5344CB8AC3E}">
        <p14:creationId xmlns:p14="http://schemas.microsoft.com/office/powerpoint/2010/main" val="34674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2DEAF3-5F48-469C-AEE2-9C7F888111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3" name="Sous-titre 2">
            <a:extLst>
              <a:ext uri="{FF2B5EF4-FFF2-40B4-BE49-F238E27FC236}">
                <a16:creationId xmlns:a16="http://schemas.microsoft.com/office/drawing/2014/main" id="{67A6B7D4-9476-4C6B-99F2-DB09C5D868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4" name="Espace réservé de la date 3">
            <a:extLst>
              <a:ext uri="{FF2B5EF4-FFF2-40B4-BE49-F238E27FC236}">
                <a16:creationId xmlns:a16="http://schemas.microsoft.com/office/drawing/2014/main" id="{55EE0902-056F-4E69-AFA3-D649E357C503}"/>
              </a:ext>
            </a:extLst>
          </p:cNvPr>
          <p:cNvSpPr>
            <a:spLocks noGrp="1"/>
          </p:cNvSpPr>
          <p:nvPr>
            <p:ph type="dt" sz="half" idx="10"/>
          </p:nvPr>
        </p:nvSpPr>
        <p:spPr/>
        <p:txBody>
          <a:bodyPr/>
          <a:lstStyle/>
          <a:p>
            <a:fld id="{5A48F7A7-F5CF-4888-B6F0-674152F208FB}" type="datetime1">
              <a:rPr lang="fr-MA" smtClean="0"/>
              <a:t>13/05/2026</a:t>
            </a:fld>
            <a:endParaRPr lang="fr-MA"/>
          </a:p>
        </p:txBody>
      </p:sp>
      <p:sp>
        <p:nvSpPr>
          <p:cNvPr id="5" name="Espace réservé du pied de page 4">
            <a:extLst>
              <a:ext uri="{FF2B5EF4-FFF2-40B4-BE49-F238E27FC236}">
                <a16:creationId xmlns:a16="http://schemas.microsoft.com/office/drawing/2014/main" id="{FD2AF1B1-F677-4A02-A56C-A40C33B98E32}"/>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BAFD2D89-62BD-41B2-B218-778A78721AC6}"/>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1721389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502A08-B7FA-4F05-9D66-0960651DE476}"/>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BBDE044A-9182-4FA3-8237-D0A2A006E201}"/>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5B842E8A-88DA-429D-9059-688029A34D2B}"/>
              </a:ext>
            </a:extLst>
          </p:cNvPr>
          <p:cNvSpPr>
            <a:spLocks noGrp="1"/>
          </p:cNvSpPr>
          <p:nvPr>
            <p:ph type="dt" sz="half" idx="10"/>
          </p:nvPr>
        </p:nvSpPr>
        <p:spPr/>
        <p:txBody>
          <a:bodyPr/>
          <a:lstStyle/>
          <a:p>
            <a:fld id="{D91C0800-BFEF-4277-996B-9C7AEB2242DF}" type="datetime1">
              <a:rPr lang="fr-MA" smtClean="0"/>
              <a:t>13/05/2026</a:t>
            </a:fld>
            <a:endParaRPr lang="fr-MA"/>
          </a:p>
        </p:txBody>
      </p:sp>
      <p:sp>
        <p:nvSpPr>
          <p:cNvPr id="5" name="Espace réservé du pied de page 4">
            <a:extLst>
              <a:ext uri="{FF2B5EF4-FFF2-40B4-BE49-F238E27FC236}">
                <a16:creationId xmlns:a16="http://schemas.microsoft.com/office/drawing/2014/main" id="{072FCA2E-B883-45F3-BE48-0923835E58B9}"/>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51EA4C29-0F05-4588-AB23-83F2692C0026}"/>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354856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F8261C-2945-4F9B-AEC5-ED1862223BC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3" name="Espace réservé du texte 2">
            <a:extLst>
              <a:ext uri="{FF2B5EF4-FFF2-40B4-BE49-F238E27FC236}">
                <a16:creationId xmlns:a16="http://schemas.microsoft.com/office/drawing/2014/main" id="{2156CA24-AD8E-49FC-A20C-434A9BCEBE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8129DA77-81A1-4507-9C53-AA76B7977144}"/>
              </a:ext>
            </a:extLst>
          </p:cNvPr>
          <p:cNvSpPr>
            <a:spLocks noGrp="1"/>
          </p:cNvSpPr>
          <p:nvPr>
            <p:ph type="dt" sz="half" idx="10"/>
          </p:nvPr>
        </p:nvSpPr>
        <p:spPr/>
        <p:txBody>
          <a:bodyPr/>
          <a:lstStyle/>
          <a:p>
            <a:fld id="{6FD2C4D2-EE90-4B13-BC60-1F91DACA4E42}" type="datetime1">
              <a:rPr lang="fr-MA" smtClean="0"/>
              <a:t>13/05/2026</a:t>
            </a:fld>
            <a:endParaRPr lang="fr-MA"/>
          </a:p>
        </p:txBody>
      </p:sp>
      <p:sp>
        <p:nvSpPr>
          <p:cNvPr id="5" name="Espace réservé du pied de page 4">
            <a:extLst>
              <a:ext uri="{FF2B5EF4-FFF2-40B4-BE49-F238E27FC236}">
                <a16:creationId xmlns:a16="http://schemas.microsoft.com/office/drawing/2014/main" id="{5D187B08-87AA-4B0D-A75E-DDC440DFD6EE}"/>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B7A4E44A-CFBF-467E-AA36-977A12CC0B30}"/>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10044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EEF97F-DB15-42D9-A56B-6FA74ACC314D}"/>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E3056BF8-C7B5-4272-848F-431A68525500}"/>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contenu 3">
            <a:extLst>
              <a:ext uri="{FF2B5EF4-FFF2-40B4-BE49-F238E27FC236}">
                <a16:creationId xmlns:a16="http://schemas.microsoft.com/office/drawing/2014/main" id="{51EDFA25-052C-444F-84A9-19C3B0464F9E}"/>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e la date 4">
            <a:extLst>
              <a:ext uri="{FF2B5EF4-FFF2-40B4-BE49-F238E27FC236}">
                <a16:creationId xmlns:a16="http://schemas.microsoft.com/office/drawing/2014/main" id="{ECF7F828-522E-4F8E-894E-4F68D3631215}"/>
              </a:ext>
            </a:extLst>
          </p:cNvPr>
          <p:cNvSpPr>
            <a:spLocks noGrp="1"/>
          </p:cNvSpPr>
          <p:nvPr>
            <p:ph type="dt" sz="half" idx="10"/>
          </p:nvPr>
        </p:nvSpPr>
        <p:spPr/>
        <p:txBody>
          <a:bodyPr/>
          <a:lstStyle/>
          <a:p>
            <a:fld id="{8660544F-A5CF-4288-840B-D08DB21FD699}" type="datetime1">
              <a:rPr lang="fr-MA" smtClean="0"/>
              <a:t>13/05/2026</a:t>
            </a:fld>
            <a:endParaRPr lang="fr-MA"/>
          </a:p>
        </p:txBody>
      </p:sp>
      <p:sp>
        <p:nvSpPr>
          <p:cNvPr id="6" name="Espace réservé du pied de page 5">
            <a:extLst>
              <a:ext uri="{FF2B5EF4-FFF2-40B4-BE49-F238E27FC236}">
                <a16:creationId xmlns:a16="http://schemas.microsoft.com/office/drawing/2014/main" id="{020E8128-843C-4FC3-8FDA-60536F22AD6B}"/>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9245A253-00F8-4163-B154-F1334CD07C80}"/>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965861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01BFA6-9AAC-4273-9C1F-F80E0BE28DF9}"/>
              </a:ext>
            </a:extLst>
          </p:cNvPr>
          <p:cNvSpPr>
            <a:spLocks noGrp="1"/>
          </p:cNvSpPr>
          <p:nvPr>
            <p:ph type="title"/>
          </p:nvPr>
        </p:nvSpPr>
        <p:spPr>
          <a:xfrm>
            <a:off x="839788" y="365125"/>
            <a:ext cx="10515600" cy="1325563"/>
          </a:xfrm>
        </p:spPr>
        <p:txBody>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8E35B808-04B8-4657-82C8-6066C76C8C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38FD1085-E84A-4F4B-9FC5-030E4AB8036B}"/>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u texte 4">
            <a:extLst>
              <a:ext uri="{FF2B5EF4-FFF2-40B4-BE49-F238E27FC236}">
                <a16:creationId xmlns:a16="http://schemas.microsoft.com/office/drawing/2014/main" id="{0F73F329-D765-47EF-8508-74DDB9E1B5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56F0118F-0C47-4A96-9B7D-7E892046AF39}"/>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7" name="Espace réservé de la date 6">
            <a:extLst>
              <a:ext uri="{FF2B5EF4-FFF2-40B4-BE49-F238E27FC236}">
                <a16:creationId xmlns:a16="http://schemas.microsoft.com/office/drawing/2014/main" id="{681C058F-2B85-43A2-BC9F-BA638F287C22}"/>
              </a:ext>
            </a:extLst>
          </p:cNvPr>
          <p:cNvSpPr>
            <a:spLocks noGrp="1"/>
          </p:cNvSpPr>
          <p:nvPr>
            <p:ph type="dt" sz="half" idx="10"/>
          </p:nvPr>
        </p:nvSpPr>
        <p:spPr/>
        <p:txBody>
          <a:bodyPr/>
          <a:lstStyle/>
          <a:p>
            <a:fld id="{984EBB34-78F8-4AD2-8627-B73B178E75F2}" type="datetime1">
              <a:rPr lang="fr-MA" smtClean="0"/>
              <a:t>13/05/2026</a:t>
            </a:fld>
            <a:endParaRPr lang="fr-MA"/>
          </a:p>
        </p:txBody>
      </p:sp>
      <p:sp>
        <p:nvSpPr>
          <p:cNvPr id="8" name="Espace réservé du pied de page 7">
            <a:extLst>
              <a:ext uri="{FF2B5EF4-FFF2-40B4-BE49-F238E27FC236}">
                <a16:creationId xmlns:a16="http://schemas.microsoft.com/office/drawing/2014/main" id="{47D127C0-4CCA-49D5-AF06-FD81F9AF0325}"/>
              </a:ext>
            </a:extLst>
          </p:cNvPr>
          <p:cNvSpPr>
            <a:spLocks noGrp="1"/>
          </p:cNvSpPr>
          <p:nvPr>
            <p:ph type="ftr" sz="quarter" idx="11"/>
          </p:nvPr>
        </p:nvSpPr>
        <p:spPr/>
        <p:txBody>
          <a:bodyPr/>
          <a:lstStyle/>
          <a:p>
            <a:endParaRPr lang="fr-MA"/>
          </a:p>
        </p:txBody>
      </p:sp>
      <p:sp>
        <p:nvSpPr>
          <p:cNvPr id="9" name="Espace réservé du numéro de diapositive 8">
            <a:extLst>
              <a:ext uri="{FF2B5EF4-FFF2-40B4-BE49-F238E27FC236}">
                <a16:creationId xmlns:a16="http://schemas.microsoft.com/office/drawing/2014/main" id="{EBF8401E-1BB7-4A0A-9C70-D7B0EE8388A8}"/>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485495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0F12E-C682-48E2-8724-50965FAF9418}"/>
              </a:ext>
            </a:extLst>
          </p:cNvPr>
          <p:cNvSpPr>
            <a:spLocks noGrp="1"/>
          </p:cNvSpPr>
          <p:nvPr>
            <p:ph type="title"/>
          </p:nvPr>
        </p:nvSpPr>
        <p:spPr/>
        <p:txBody>
          <a:bodyPr/>
          <a:lstStyle/>
          <a:p>
            <a:r>
              <a:rPr lang="fr-FR"/>
              <a:t>Modifiez le style du titre</a:t>
            </a:r>
            <a:endParaRPr lang="fr-MA"/>
          </a:p>
        </p:txBody>
      </p:sp>
      <p:sp>
        <p:nvSpPr>
          <p:cNvPr id="3" name="Espace réservé de la date 2">
            <a:extLst>
              <a:ext uri="{FF2B5EF4-FFF2-40B4-BE49-F238E27FC236}">
                <a16:creationId xmlns:a16="http://schemas.microsoft.com/office/drawing/2014/main" id="{4DB42699-F7C2-420C-86DA-D9A41D38D2A4}"/>
              </a:ext>
            </a:extLst>
          </p:cNvPr>
          <p:cNvSpPr>
            <a:spLocks noGrp="1"/>
          </p:cNvSpPr>
          <p:nvPr>
            <p:ph type="dt" sz="half" idx="10"/>
          </p:nvPr>
        </p:nvSpPr>
        <p:spPr/>
        <p:txBody>
          <a:bodyPr/>
          <a:lstStyle/>
          <a:p>
            <a:fld id="{806F04E5-3A75-4499-B1F9-19570E87A958}" type="datetime1">
              <a:rPr lang="fr-MA" smtClean="0"/>
              <a:t>13/05/2026</a:t>
            </a:fld>
            <a:endParaRPr lang="fr-MA"/>
          </a:p>
        </p:txBody>
      </p:sp>
      <p:sp>
        <p:nvSpPr>
          <p:cNvPr id="4" name="Espace réservé du pied de page 3">
            <a:extLst>
              <a:ext uri="{FF2B5EF4-FFF2-40B4-BE49-F238E27FC236}">
                <a16:creationId xmlns:a16="http://schemas.microsoft.com/office/drawing/2014/main" id="{D6BFFAE0-1F23-4300-AF58-0384DDD692C0}"/>
              </a:ext>
            </a:extLst>
          </p:cNvPr>
          <p:cNvSpPr>
            <a:spLocks noGrp="1"/>
          </p:cNvSpPr>
          <p:nvPr>
            <p:ph type="ftr" sz="quarter" idx="11"/>
          </p:nvPr>
        </p:nvSpPr>
        <p:spPr/>
        <p:txBody>
          <a:bodyPr/>
          <a:lstStyle/>
          <a:p>
            <a:endParaRPr lang="fr-MA"/>
          </a:p>
        </p:txBody>
      </p:sp>
      <p:sp>
        <p:nvSpPr>
          <p:cNvPr id="5" name="Espace réservé du numéro de diapositive 4">
            <a:extLst>
              <a:ext uri="{FF2B5EF4-FFF2-40B4-BE49-F238E27FC236}">
                <a16:creationId xmlns:a16="http://schemas.microsoft.com/office/drawing/2014/main" id="{8EA10353-C48D-4C21-9609-BACDAB800EC5}"/>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1111012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CD93FD6-052F-4B05-9E39-FF821FC47EA9}"/>
              </a:ext>
            </a:extLst>
          </p:cNvPr>
          <p:cNvSpPr>
            <a:spLocks noGrp="1"/>
          </p:cNvSpPr>
          <p:nvPr>
            <p:ph type="dt" sz="half" idx="10"/>
          </p:nvPr>
        </p:nvSpPr>
        <p:spPr/>
        <p:txBody>
          <a:bodyPr/>
          <a:lstStyle/>
          <a:p>
            <a:fld id="{CE5B70D6-0EA2-45D5-B293-531469790426}" type="datetime1">
              <a:rPr lang="fr-MA" smtClean="0"/>
              <a:t>13/05/2026</a:t>
            </a:fld>
            <a:endParaRPr lang="fr-MA"/>
          </a:p>
        </p:txBody>
      </p:sp>
      <p:sp>
        <p:nvSpPr>
          <p:cNvPr id="3" name="Espace réservé du pied de page 2">
            <a:extLst>
              <a:ext uri="{FF2B5EF4-FFF2-40B4-BE49-F238E27FC236}">
                <a16:creationId xmlns:a16="http://schemas.microsoft.com/office/drawing/2014/main" id="{C589DBEA-BFF0-4145-9189-21F13B9E9FD0}"/>
              </a:ext>
            </a:extLst>
          </p:cNvPr>
          <p:cNvSpPr>
            <a:spLocks noGrp="1"/>
          </p:cNvSpPr>
          <p:nvPr>
            <p:ph type="ftr" sz="quarter" idx="11"/>
          </p:nvPr>
        </p:nvSpPr>
        <p:spPr/>
        <p:txBody>
          <a:bodyPr/>
          <a:lstStyle/>
          <a:p>
            <a:endParaRPr lang="fr-MA"/>
          </a:p>
        </p:txBody>
      </p:sp>
      <p:sp>
        <p:nvSpPr>
          <p:cNvPr id="4" name="Espace réservé du numéro de diapositive 3">
            <a:extLst>
              <a:ext uri="{FF2B5EF4-FFF2-40B4-BE49-F238E27FC236}">
                <a16:creationId xmlns:a16="http://schemas.microsoft.com/office/drawing/2014/main" id="{40518A64-EA82-4601-94DA-95B07700F8EB}"/>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817969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500CD3-2412-4A8E-B4D1-09E3757CCB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du contenu 2">
            <a:extLst>
              <a:ext uri="{FF2B5EF4-FFF2-40B4-BE49-F238E27FC236}">
                <a16:creationId xmlns:a16="http://schemas.microsoft.com/office/drawing/2014/main" id="{5AC7D7DB-0EED-4C1B-995C-036B7A434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texte 3">
            <a:extLst>
              <a:ext uri="{FF2B5EF4-FFF2-40B4-BE49-F238E27FC236}">
                <a16:creationId xmlns:a16="http://schemas.microsoft.com/office/drawing/2014/main" id="{12E260FC-044F-498D-B392-3F47618D9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122173D1-BF2C-4883-B1ED-7F19CE282C44}"/>
              </a:ext>
            </a:extLst>
          </p:cNvPr>
          <p:cNvSpPr>
            <a:spLocks noGrp="1"/>
          </p:cNvSpPr>
          <p:nvPr>
            <p:ph type="dt" sz="half" idx="10"/>
          </p:nvPr>
        </p:nvSpPr>
        <p:spPr/>
        <p:txBody>
          <a:bodyPr/>
          <a:lstStyle/>
          <a:p>
            <a:fld id="{B64684C4-6DFE-441B-8951-65B050D140B5}" type="datetime1">
              <a:rPr lang="fr-MA" smtClean="0"/>
              <a:t>13/05/2026</a:t>
            </a:fld>
            <a:endParaRPr lang="fr-MA"/>
          </a:p>
        </p:txBody>
      </p:sp>
      <p:sp>
        <p:nvSpPr>
          <p:cNvPr id="6" name="Espace réservé du pied de page 5">
            <a:extLst>
              <a:ext uri="{FF2B5EF4-FFF2-40B4-BE49-F238E27FC236}">
                <a16:creationId xmlns:a16="http://schemas.microsoft.com/office/drawing/2014/main" id="{DD7AA0BB-995B-40A4-8157-BA37761CA198}"/>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79BA41AA-D634-4C99-92A3-2BBC881A1201}"/>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4200507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AE2BB5-347C-49BF-B2AB-8BA2697F766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pour une image  2">
            <a:extLst>
              <a:ext uri="{FF2B5EF4-FFF2-40B4-BE49-F238E27FC236}">
                <a16:creationId xmlns:a16="http://schemas.microsoft.com/office/drawing/2014/main" id="{A23CF88A-BF85-4409-B783-76CD8AED37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4" name="Espace réservé du texte 3">
            <a:extLst>
              <a:ext uri="{FF2B5EF4-FFF2-40B4-BE49-F238E27FC236}">
                <a16:creationId xmlns:a16="http://schemas.microsoft.com/office/drawing/2014/main" id="{46DFBA51-20F5-46F6-9193-508A10A0BE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38E4D3C2-217C-40B6-80A8-FFD871467E18}"/>
              </a:ext>
            </a:extLst>
          </p:cNvPr>
          <p:cNvSpPr>
            <a:spLocks noGrp="1"/>
          </p:cNvSpPr>
          <p:nvPr>
            <p:ph type="dt" sz="half" idx="10"/>
          </p:nvPr>
        </p:nvSpPr>
        <p:spPr/>
        <p:txBody>
          <a:bodyPr/>
          <a:lstStyle/>
          <a:p>
            <a:fld id="{641ADA46-5654-4106-9E5B-A8878ECCD772}" type="datetime1">
              <a:rPr lang="fr-MA" smtClean="0"/>
              <a:t>13/05/2026</a:t>
            </a:fld>
            <a:endParaRPr lang="fr-MA"/>
          </a:p>
        </p:txBody>
      </p:sp>
      <p:sp>
        <p:nvSpPr>
          <p:cNvPr id="6" name="Espace réservé du pied de page 5">
            <a:extLst>
              <a:ext uri="{FF2B5EF4-FFF2-40B4-BE49-F238E27FC236}">
                <a16:creationId xmlns:a16="http://schemas.microsoft.com/office/drawing/2014/main" id="{0EFDFF3E-C8E0-41CE-92C5-E68E09291A55}"/>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578FE165-F453-409F-B2A5-CB74FCA5932B}"/>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1987512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5BECE3-4510-4405-9718-E1476167C43D}"/>
              </a:ext>
            </a:extLst>
          </p:cNvPr>
          <p:cNvSpPr>
            <a:spLocks noGrp="1"/>
          </p:cNvSpPr>
          <p:nvPr>
            <p:ph type="title"/>
          </p:nvPr>
        </p:nvSpPr>
        <p:spPr/>
        <p:txBody>
          <a:bodyPr/>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6F7990CA-FCB8-43E3-9DC8-8CCD66804973}"/>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B50A8481-FCD3-4B65-9B27-0A7955756981}"/>
              </a:ext>
            </a:extLst>
          </p:cNvPr>
          <p:cNvSpPr>
            <a:spLocks noGrp="1"/>
          </p:cNvSpPr>
          <p:nvPr>
            <p:ph type="dt" sz="half" idx="10"/>
          </p:nvPr>
        </p:nvSpPr>
        <p:spPr/>
        <p:txBody>
          <a:bodyPr/>
          <a:lstStyle/>
          <a:p>
            <a:fld id="{DAD4F716-5D54-4488-A4F8-808D6F632793}" type="datetime1">
              <a:rPr lang="fr-MA" smtClean="0"/>
              <a:t>13/05/2026</a:t>
            </a:fld>
            <a:endParaRPr lang="fr-MA"/>
          </a:p>
        </p:txBody>
      </p:sp>
      <p:sp>
        <p:nvSpPr>
          <p:cNvPr id="5" name="Espace réservé du pied de page 4">
            <a:extLst>
              <a:ext uri="{FF2B5EF4-FFF2-40B4-BE49-F238E27FC236}">
                <a16:creationId xmlns:a16="http://schemas.microsoft.com/office/drawing/2014/main" id="{3117C728-21A6-47E2-BDBC-5CCA593CA285}"/>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582904C7-7A2E-40D4-9C53-E30FB5CF26FD}"/>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280654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D566A01-EBDB-4FD5-9CC0-3E093602EB7C}"/>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F1281145-006D-439D-B7C5-526A9C285D20}"/>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9B97FA55-E2C3-49EC-AED5-B7EA42C2FD3B}"/>
              </a:ext>
            </a:extLst>
          </p:cNvPr>
          <p:cNvSpPr>
            <a:spLocks noGrp="1"/>
          </p:cNvSpPr>
          <p:nvPr>
            <p:ph type="dt" sz="half" idx="10"/>
          </p:nvPr>
        </p:nvSpPr>
        <p:spPr/>
        <p:txBody>
          <a:bodyPr/>
          <a:lstStyle/>
          <a:p>
            <a:fld id="{7B3F5C9B-A65B-4CF1-A324-F55CEF6B2902}" type="datetime1">
              <a:rPr lang="fr-MA" smtClean="0"/>
              <a:t>13/05/2026</a:t>
            </a:fld>
            <a:endParaRPr lang="fr-MA"/>
          </a:p>
        </p:txBody>
      </p:sp>
      <p:sp>
        <p:nvSpPr>
          <p:cNvPr id="5" name="Espace réservé du pied de page 4">
            <a:extLst>
              <a:ext uri="{FF2B5EF4-FFF2-40B4-BE49-F238E27FC236}">
                <a16:creationId xmlns:a16="http://schemas.microsoft.com/office/drawing/2014/main" id="{0F9BA569-31E2-4C1E-8065-5DA5C141C4B7}"/>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F35799F0-126B-4E04-AFB8-56CF34571085}"/>
              </a:ext>
            </a:extLst>
          </p:cNvPr>
          <p:cNvSpPr>
            <a:spLocks noGrp="1"/>
          </p:cNvSpPr>
          <p:nvPr>
            <p:ph type="sldNum" sz="quarter" idx="12"/>
          </p:nvPr>
        </p:nvSpPr>
        <p:spPr/>
        <p:txBody>
          <a:bodyPr/>
          <a:lstStyle/>
          <a:p>
            <a:fld id="{2B17302E-DD53-41B8-8A63-148325D667CE}" type="slidenum">
              <a:rPr lang="fr-MA" smtClean="0"/>
              <a:t>‹N°›</a:t>
            </a:fld>
            <a:endParaRPr lang="fr-MA"/>
          </a:p>
        </p:txBody>
      </p:sp>
    </p:spTree>
    <p:extLst>
      <p:ext uri="{BB962C8B-B14F-4D97-AF65-F5344CB8AC3E}">
        <p14:creationId xmlns:p14="http://schemas.microsoft.com/office/powerpoint/2010/main" val="4224396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81DB0BE-4894-428F-8738-0AFA43FB27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1518AB42-9202-4435-A4C5-7B620CFC0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B9C9EE39-8454-43D1-B102-5DFCE7D41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6FCD04-7250-45AF-9DF0-443B67F9B348}" type="datetime1">
              <a:rPr lang="fr-MA" smtClean="0"/>
              <a:t>13/05/2026</a:t>
            </a:fld>
            <a:endParaRPr lang="fr-MA"/>
          </a:p>
        </p:txBody>
      </p:sp>
      <p:sp>
        <p:nvSpPr>
          <p:cNvPr id="5" name="Espace réservé du pied de page 4">
            <a:extLst>
              <a:ext uri="{FF2B5EF4-FFF2-40B4-BE49-F238E27FC236}">
                <a16:creationId xmlns:a16="http://schemas.microsoft.com/office/drawing/2014/main" id="{8EFF03B1-331A-414B-AC9A-EA3CBC0500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MA"/>
          </a:p>
        </p:txBody>
      </p:sp>
      <p:sp>
        <p:nvSpPr>
          <p:cNvPr id="6" name="Espace réservé du numéro de diapositive 5">
            <a:extLst>
              <a:ext uri="{FF2B5EF4-FFF2-40B4-BE49-F238E27FC236}">
                <a16:creationId xmlns:a16="http://schemas.microsoft.com/office/drawing/2014/main" id="{517093A4-D1E5-4129-A169-19B086982C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17302E-DD53-41B8-8A63-148325D667CE}" type="slidenum">
              <a:rPr lang="fr-MA" smtClean="0"/>
              <a:t>‹N°›</a:t>
            </a:fld>
            <a:endParaRPr lang="fr-MA"/>
          </a:p>
        </p:txBody>
      </p:sp>
    </p:spTree>
    <p:extLst>
      <p:ext uri="{BB962C8B-B14F-4D97-AF65-F5344CB8AC3E}">
        <p14:creationId xmlns:p14="http://schemas.microsoft.com/office/powerpoint/2010/main" val="963237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ealth Care Medical Wallpapers - Top Free Health Care Medical ...">
            <a:extLst>
              <a:ext uri="{FF2B5EF4-FFF2-40B4-BE49-F238E27FC236}">
                <a16:creationId xmlns:a16="http://schemas.microsoft.com/office/drawing/2014/main" id="{ECCA7FDE-74BA-42EC-A66D-C98B3EAC8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2048E98D-20A8-4C41-ADC4-5F5CD2600599}"/>
              </a:ext>
            </a:extLst>
          </p:cNvPr>
          <p:cNvSpPr>
            <a:spLocks noGrp="1"/>
          </p:cNvSpPr>
          <p:nvPr>
            <p:ph type="ctrTitle"/>
          </p:nvPr>
        </p:nvSpPr>
        <p:spPr>
          <a:xfrm>
            <a:off x="1524000" y="1122363"/>
            <a:ext cx="9144000" cy="2387600"/>
          </a:xfrm>
        </p:spPr>
        <p:txBody>
          <a:bodyPr/>
          <a:lstStyle/>
          <a:p>
            <a:r>
              <a:rPr lang="fr-FR" dirty="0">
                <a:solidFill>
                  <a:schemeClr val="tx1">
                    <a:lumMod val="95000"/>
                    <a:lumOff val="5000"/>
                  </a:schemeClr>
                </a:solidFill>
                <a:latin typeface="Bahnschrift SemiBold SemiConden" panose="020B0502040204020203" pitchFamily="34" charset="0"/>
              </a:rPr>
              <a:t>Digital </a:t>
            </a:r>
            <a:r>
              <a:rPr lang="fr-FR" dirty="0" err="1">
                <a:solidFill>
                  <a:schemeClr val="tx1">
                    <a:lumMod val="95000"/>
                    <a:lumOff val="5000"/>
                  </a:schemeClr>
                </a:solidFill>
                <a:latin typeface="Bahnschrift SemiBold SemiConden" panose="020B0502040204020203" pitchFamily="34" charset="0"/>
              </a:rPr>
              <a:t>health</a:t>
            </a:r>
            <a:r>
              <a:rPr lang="fr-FR" dirty="0">
                <a:solidFill>
                  <a:schemeClr val="tx1">
                    <a:lumMod val="95000"/>
                    <a:lumOff val="5000"/>
                  </a:schemeClr>
                </a:solidFill>
                <a:latin typeface="Bahnschrift SemiBold SemiConden" panose="020B0502040204020203" pitchFamily="34" charset="0"/>
              </a:rPr>
              <a:t> in the </a:t>
            </a:r>
            <a:r>
              <a:rPr lang="fr-FR" dirty="0" err="1">
                <a:solidFill>
                  <a:schemeClr val="tx1">
                    <a:lumMod val="95000"/>
                    <a:lumOff val="5000"/>
                  </a:schemeClr>
                </a:solidFill>
                <a:latin typeface="Bahnschrift SemiBold SemiConden" panose="020B0502040204020203" pitchFamily="34" charset="0"/>
              </a:rPr>
              <a:t>Era</a:t>
            </a:r>
            <a:r>
              <a:rPr lang="fr-FR" dirty="0">
                <a:solidFill>
                  <a:schemeClr val="tx1">
                    <a:lumMod val="95000"/>
                    <a:lumOff val="5000"/>
                  </a:schemeClr>
                </a:solidFill>
                <a:latin typeface="Bahnschrift SemiBold SemiConden" panose="020B0502040204020203" pitchFamily="34" charset="0"/>
              </a:rPr>
              <a:t> of </a:t>
            </a:r>
            <a:r>
              <a:rPr lang="fr-FR" dirty="0" err="1">
                <a:solidFill>
                  <a:schemeClr val="tx1">
                    <a:lumMod val="95000"/>
                    <a:lumOff val="5000"/>
                  </a:schemeClr>
                </a:solidFill>
                <a:latin typeface="Bahnschrift SemiBold SemiConden" panose="020B0502040204020203" pitchFamily="34" charset="0"/>
              </a:rPr>
              <a:t>Artificial</a:t>
            </a:r>
            <a:r>
              <a:rPr lang="fr-FR" dirty="0">
                <a:solidFill>
                  <a:schemeClr val="tx1">
                    <a:lumMod val="95000"/>
                    <a:lumOff val="5000"/>
                  </a:schemeClr>
                </a:solidFill>
                <a:latin typeface="Bahnschrift SemiBold SemiConden" panose="020B0502040204020203" pitchFamily="34" charset="0"/>
              </a:rPr>
              <a:t> Intelligence</a:t>
            </a:r>
            <a:endParaRPr lang="fr-MA" dirty="0">
              <a:solidFill>
                <a:schemeClr val="tx1">
                  <a:lumMod val="95000"/>
                  <a:lumOff val="5000"/>
                </a:schemeClr>
              </a:solidFill>
              <a:latin typeface="Bahnschrift SemiBold SemiConden" panose="020B0502040204020203" pitchFamily="34" charset="0"/>
            </a:endParaRPr>
          </a:p>
        </p:txBody>
      </p:sp>
      <p:sp>
        <p:nvSpPr>
          <p:cNvPr id="3" name="Sous-titre 2">
            <a:extLst>
              <a:ext uri="{FF2B5EF4-FFF2-40B4-BE49-F238E27FC236}">
                <a16:creationId xmlns:a16="http://schemas.microsoft.com/office/drawing/2014/main" id="{7F3920B9-093F-4B2C-9553-B9C24FA9F4EB}"/>
              </a:ext>
            </a:extLst>
          </p:cNvPr>
          <p:cNvSpPr>
            <a:spLocks noGrp="1"/>
          </p:cNvSpPr>
          <p:nvPr>
            <p:ph type="subTitle" idx="1"/>
          </p:nvPr>
        </p:nvSpPr>
        <p:spPr/>
        <p:txBody>
          <a:bodyPr>
            <a:normAutofit fontScale="92500" lnSpcReduction="10000"/>
          </a:bodyPr>
          <a:lstStyle/>
          <a:p>
            <a:r>
              <a:rPr lang="fr-FR" sz="2300" dirty="0">
                <a:solidFill>
                  <a:schemeClr val="tx1">
                    <a:lumMod val="95000"/>
                    <a:lumOff val="5000"/>
                  </a:schemeClr>
                </a:solidFill>
                <a:latin typeface="Bahnschrift SemiBold SemiConden" panose="020B0502040204020203" pitchFamily="34" charset="0"/>
                <a:ea typeface="+mj-ea"/>
                <a:cs typeface="+mj-cs"/>
              </a:rPr>
              <a:t>Challenges and </a:t>
            </a:r>
            <a:r>
              <a:rPr lang="fr-FR" sz="2300" dirty="0" err="1">
                <a:solidFill>
                  <a:schemeClr val="tx1">
                    <a:lumMod val="95000"/>
                    <a:lumOff val="5000"/>
                  </a:schemeClr>
                </a:solidFill>
                <a:latin typeface="Bahnschrift SemiBold SemiConden" panose="020B0502040204020203" pitchFamily="34" charset="0"/>
                <a:ea typeface="+mj-ea"/>
                <a:cs typeface="+mj-cs"/>
              </a:rPr>
              <a:t>Opportunities</a:t>
            </a:r>
            <a:endParaRPr lang="fr-FR" sz="2300" dirty="0">
              <a:solidFill>
                <a:schemeClr val="tx1">
                  <a:lumMod val="95000"/>
                  <a:lumOff val="5000"/>
                </a:schemeClr>
              </a:solidFill>
              <a:latin typeface="Bahnschrift SemiBold SemiConden" panose="020B0502040204020203" pitchFamily="34" charset="0"/>
              <a:ea typeface="+mj-ea"/>
              <a:cs typeface="+mj-cs"/>
            </a:endParaRPr>
          </a:p>
          <a:p>
            <a:endParaRPr lang="fr-FR" dirty="0"/>
          </a:p>
          <a:p>
            <a:endParaRPr lang="fr-FR" dirty="0"/>
          </a:p>
          <a:p>
            <a:r>
              <a:rPr lang="fr-FR" dirty="0"/>
              <a:t>                                                                                                </a:t>
            </a:r>
            <a:endParaRPr lang="fr-MA" dirty="0"/>
          </a:p>
        </p:txBody>
      </p:sp>
      <p:sp>
        <p:nvSpPr>
          <p:cNvPr id="6" name="Espace réservé du numéro de diapositive 5">
            <a:extLst>
              <a:ext uri="{FF2B5EF4-FFF2-40B4-BE49-F238E27FC236}">
                <a16:creationId xmlns:a16="http://schemas.microsoft.com/office/drawing/2014/main" id="{BB36E36D-D8D9-46BD-9097-0D3962109970}"/>
              </a:ext>
            </a:extLst>
          </p:cNvPr>
          <p:cNvSpPr>
            <a:spLocks noGrp="1"/>
          </p:cNvSpPr>
          <p:nvPr>
            <p:ph type="sldNum" sz="quarter" idx="12"/>
          </p:nvPr>
        </p:nvSpPr>
        <p:spPr/>
        <p:txBody>
          <a:bodyPr/>
          <a:lstStyle/>
          <a:p>
            <a:fld id="{2B17302E-DD53-41B8-8A63-148325D667CE}" type="slidenum">
              <a:rPr lang="fr-MA" smtClean="0"/>
              <a:t>1</a:t>
            </a:fld>
            <a:endParaRPr lang="fr-MA" dirty="0"/>
          </a:p>
        </p:txBody>
      </p:sp>
      <p:sp>
        <p:nvSpPr>
          <p:cNvPr id="10" name="ZoneTexte 9">
            <a:extLst>
              <a:ext uri="{FF2B5EF4-FFF2-40B4-BE49-F238E27FC236}">
                <a16:creationId xmlns:a16="http://schemas.microsoft.com/office/drawing/2014/main" id="{BD95F58C-7D08-48D3-8055-58DE6186931E}"/>
              </a:ext>
            </a:extLst>
          </p:cNvPr>
          <p:cNvSpPr txBox="1"/>
          <p:nvPr/>
        </p:nvSpPr>
        <p:spPr>
          <a:xfrm>
            <a:off x="701879" y="5411568"/>
            <a:ext cx="1644242" cy="646331"/>
          </a:xfrm>
          <a:prstGeom prst="rect">
            <a:avLst/>
          </a:prstGeom>
          <a:noFill/>
        </p:spPr>
        <p:txBody>
          <a:bodyPr wrap="square" rtlCol="0">
            <a:spAutoFit/>
          </a:bodyPr>
          <a:lstStyle/>
          <a:p>
            <a:r>
              <a:rPr lang="fr-FR" dirty="0" err="1">
                <a:latin typeface="Baskerville Old Face" panose="02020602080505020303" pitchFamily="18" charset="0"/>
              </a:rPr>
              <a:t>Supervised</a:t>
            </a:r>
            <a:r>
              <a:rPr lang="fr-FR" dirty="0">
                <a:latin typeface="Baskerville Old Face" panose="02020602080505020303" pitchFamily="18" charset="0"/>
              </a:rPr>
              <a:t> by :</a:t>
            </a:r>
          </a:p>
          <a:p>
            <a:r>
              <a:rPr lang="fr-FR" dirty="0">
                <a:latin typeface="Baskerville Old Face" panose="02020602080505020303" pitchFamily="18" charset="0"/>
              </a:rPr>
              <a:t>AZIZ KOUR</a:t>
            </a:r>
            <a:endParaRPr lang="fr-MA" dirty="0">
              <a:latin typeface="Baskerville Old Face" panose="02020602080505020303" pitchFamily="18" charset="0"/>
            </a:endParaRPr>
          </a:p>
        </p:txBody>
      </p:sp>
    </p:spTree>
    <p:extLst>
      <p:ext uri="{BB962C8B-B14F-4D97-AF65-F5344CB8AC3E}">
        <p14:creationId xmlns:p14="http://schemas.microsoft.com/office/powerpoint/2010/main" val="2983680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du contenu 8">
            <a:extLst>
              <a:ext uri="{FF2B5EF4-FFF2-40B4-BE49-F238E27FC236}">
                <a16:creationId xmlns:a16="http://schemas.microsoft.com/office/drawing/2014/main" id="{47934F15-8060-4358-867D-68F68AAC63A9}"/>
              </a:ext>
            </a:extLst>
          </p:cNvPr>
          <p:cNvPicPr>
            <a:picLocks noGrp="1" noChangeAspect="1"/>
          </p:cNvPicPr>
          <p:nvPr>
            <p:ph idx="1"/>
          </p:nvPr>
        </p:nvPicPr>
        <p:blipFill>
          <a:blip r:embed="rId2"/>
          <a:stretch>
            <a:fillRect/>
          </a:stretch>
        </p:blipFill>
        <p:spPr>
          <a:xfrm>
            <a:off x="-58723" y="0"/>
            <a:ext cx="12192000" cy="6858000"/>
          </a:xfrm>
          <a:prstGeom prst="rect">
            <a:avLst/>
          </a:prstGeom>
        </p:spPr>
      </p:pic>
      <p:sp>
        <p:nvSpPr>
          <p:cNvPr id="4" name="Espace réservé du numéro de diapositive 3">
            <a:extLst>
              <a:ext uri="{FF2B5EF4-FFF2-40B4-BE49-F238E27FC236}">
                <a16:creationId xmlns:a16="http://schemas.microsoft.com/office/drawing/2014/main" id="{274742FA-C068-4E98-AB85-19696AB4049D}"/>
              </a:ext>
            </a:extLst>
          </p:cNvPr>
          <p:cNvSpPr>
            <a:spLocks noGrp="1"/>
          </p:cNvSpPr>
          <p:nvPr>
            <p:ph type="sldNum" sz="quarter" idx="12"/>
          </p:nvPr>
        </p:nvSpPr>
        <p:spPr/>
        <p:txBody>
          <a:bodyPr/>
          <a:lstStyle/>
          <a:p>
            <a:fld id="{2B17302E-DD53-41B8-8A63-148325D667CE}" type="slidenum">
              <a:rPr lang="fr-MA" smtClean="0"/>
              <a:t>2</a:t>
            </a:fld>
            <a:endParaRPr lang="fr-MA"/>
          </a:p>
        </p:txBody>
      </p:sp>
      <p:sp>
        <p:nvSpPr>
          <p:cNvPr id="8" name="AutoShape 8" descr="Digital Heartbeat stock illustration. Illustration of blue - 331324025">
            <a:extLst>
              <a:ext uri="{FF2B5EF4-FFF2-40B4-BE49-F238E27FC236}">
                <a16:creationId xmlns:a16="http://schemas.microsoft.com/office/drawing/2014/main" id="{91CE9C1E-0103-43FE-BAD5-A57062262608}"/>
              </a:ext>
            </a:extLst>
          </p:cNvPr>
          <p:cNvSpPr>
            <a:spLocks noGrp="1" noChangeAspect="1" noChangeArrowheads="1"/>
          </p:cNvSpPr>
          <p:nvPr>
            <p:ph type="title"/>
          </p:nvPr>
        </p:nvSpPr>
        <p:spPr bwMode="auto">
          <a:xfrm>
            <a:off x="838200" y="1342238"/>
            <a:ext cx="10515600" cy="8770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lgn="ctr"/>
            <a:r>
              <a:rPr lang="fr-FR" sz="4800" b="1" dirty="0" err="1">
                <a:solidFill>
                  <a:schemeClr val="accent5">
                    <a:lumMod val="50000"/>
                  </a:schemeClr>
                </a:solidFill>
                <a:highlight>
                  <a:srgbClr val="00FFFF"/>
                </a:highlight>
                <a:latin typeface="Bodoni MT Condensed" panose="02070606080606020203" pitchFamily="18" charset="0"/>
                <a:ea typeface="+mn-ea"/>
                <a:cs typeface="+mn-cs"/>
              </a:rPr>
              <a:t>What</a:t>
            </a:r>
            <a:r>
              <a:rPr lang="fr-FR" sz="4800" b="1" dirty="0">
                <a:solidFill>
                  <a:schemeClr val="accent5">
                    <a:lumMod val="50000"/>
                  </a:schemeClr>
                </a:solidFill>
                <a:highlight>
                  <a:srgbClr val="00FFFF"/>
                </a:highlight>
                <a:latin typeface="Bodoni MT Condensed" panose="02070606080606020203" pitchFamily="18" charset="0"/>
                <a:ea typeface="+mn-ea"/>
                <a:cs typeface="+mn-cs"/>
              </a:rPr>
              <a:t> </a:t>
            </a:r>
            <a:r>
              <a:rPr lang="fr-FR" sz="4800" b="1" dirty="0" err="1">
                <a:solidFill>
                  <a:schemeClr val="accent5">
                    <a:lumMod val="50000"/>
                  </a:schemeClr>
                </a:solidFill>
                <a:highlight>
                  <a:srgbClr val="00FFFF"/>
                </a:highlight>
                <a:latin typeface="Bodoni MT Condensed" panose="02070606080606020203" pitchFamily="18" charset="0"/>
                <a:ea typeface="+mn-ea"/>
                <a:cs typeface="+mn-cs"/>
              </a:rPr>
              <a:t>is</a:t>
            </a:r>
            <a:r>
              <a:rPr lang="fr-FR" sz="4800" b="1" dirty="0">
                <a:solidFill>
                  <a:schemeClr val="accent5">
                    <a:lumMod val="50000"/>
                  </a:schemeClr>
                </a:solidFill>
                <a:highlight>
                  <a:srgbClr val="00FFFF"/>
                </a:highlight>
                <a:latin typeface="Bodoni MT Condensed" panose="02070606080606020203" pitchFamily="18" charset="0"/>
                <a:ea typeface="+mn-ea"/>
                <a:cs typeface="+mn-cs"/>
              </a:rPr>
              <a:t> Digital </a:t>
            </a:r>
            <a:r>
              <a:rPr lang="fr-FR" sz="4800" b="1" dirty="0" err="1">
                <a:solidFill>
                  <a:schemeClr val="accent5">
                    <a:lumMod val="50000"/>
                  </a:schemeClr>
                </a:solidFill>
                <a:highlight>
                  <a:srgbClr val="00FFFF"/>
                </a:highlight>
                <a:latin typeface="Bodoni MT Condensed" panose="02070606080606020203" pitchFamily="18" charset="0"/>
                <a:ea typeface="+mn-ea"/>
                <a:cs typeface="+mn-cs"/>
              </a:rPr>
              <a:t>Health</a:t>
            </a:r>
            <a:r>
              <a:rPr lang="fr-FR" sz="4800" b="1" dirty="0">
                <a:solidFill>
                  <a:schemeClr val="accent5">
                    <a:lumMod val="50000"/>
                  </a:schemeClr>
                </a:solidFill>
                <a:highlight>
                  <a:srgbClr val="00FFFF"/>
                </a:highlight>
                <a:latin typeface="Bodoni MT Condensed" panose="02070606080606020203" pitchFamily="18" charset="0"/>
                <a:ea typeface="+mn-ea"/>
                <a:cs typeface="+mn-cs"/>
              </a:rPr>
              <a:t> ?</a:t>
            </a:r>
            <a:endParaRPr lang="fr-MA" sz="4800" b="1" dirty="0">
              <a:solidFill>
                <a:schemeClr val="accent5">
                  <a:lumMod val="50000"/>
                </a:schemeClr>
              </a:solidFill>
              <a:highlight>
                <a:srgbClr val="00FFFF"/>
              </a:highlight>
              <a:latin typeface="Bodoni MT Condensed" panose="02070606080606020203" pitchFamily="18" charset="0"/>
              <a:ea typeface="+mn-ea"/>
              <a:cs typeface="+mn-cs"/>
            </a:endParaRPr>
          </a:p>
        </p:txBody>
      </p:sp>
      <p:sp>
        <p:nvSpPr>
          <p:cNvPr id="13" name="ZoneTexte 12">
            <a:extLst>
              <a:ext uri="{FF2B5EF4-FFF2-40B4-BE49-F238E27FC236}">
                <a16:creationId xmlns:a16="http://schemas.microsoft.com/office/drawing/2014/main" id="{700A4C03-4638-4243-A112-C2F18FC7F9F7}"/>
              </a:ext>
            </a:extLst>
          </p:cNvPr>
          <p:cNvSpPr txBox="1"/>
          <p:nvPr/>
        </p:nvSpPr>
        <p:spPr>
          <a:xfrm>
            <a:off x="2060895" y="2219256"/>
            <a:ext cx="8288323" cy="3046988"/>
          </a:xfrm>
          <a:prstGeom prst="rect">
            <a:avLst/>
          </a:prstGeom>
          <a:noFill/>
        </p:spPr>
        <p:txBody>
          <a:bodyPr wrap="square" rtlCol="0">
            <a:spAutoFit/>
          </a:bodyPr>
          <a:lstStyle/>
          <a:p>
            <a:r>
              <a:rPr lang="fr-FR" sz="2400" dirty="0">
                <a:solidFill>
                  <a:schemeClr val="bg1"/>
                </a:solidFill>
                <a:latin typeface="Bahnschrift SemiBold SemiConden" panose="020B0502040204020203" pitchFamily="34" charset="0"/>
              </a:rPr>
              <a:t>Digital </a:t>
            </a:r>
            <a:r>
              <a:rPr lang="fr-FR" sz="2400" dirty="0" err="1">
                <a:solidFill>
                  <a:schemeClr val="bg1"/>
                </a:solidFill>
                <a:latin typeface="Bahnschrift SemiBold SemiConden" panose="020B0502040204020203" pitchFamily="34" charset="0"/>
              </a:rPr>
              <a:t>health</a:t>
            </a:r>
            <a:r>
              <a:rPr lang="fr-FR" sz="2400" dirty="0">
                <a:solidFill>
                  <a:schemeClr val="bg1"/>
                </a:solidFill>
                <a:latin typeface="Bahnschrift SemiBold SemiConden" panose="020B0502040204020203" pitchFamily="34" charset="0"/>
              </a:rPr>
              <a:t> </a:t>
            </a:r>
            <a:r>
              <a:rPr lang="en-US" sz="2400" dirty="0">
                <a:solidFill>
                  <a:schemeClr val="bg1"/>
                </a:solidFill>
                <a:latin typeface="Bahnschrift SemiBold SemiConden" panose="020B0502040204020203" pitchFamily="34" charset="0"/>
              </a:rPr>
              <a:t> is a multidisciplinary field that involves the integration of digital technologies—such as Artificial Intelligence (AI), big data, mobile health (mHealth), and wearable devices—into the healthcare sector.</a:t>
            </a:r>
          </a:p>
          <a:p>
            <a:r>
              <a:rPr lang="en-US" sz="2400" dirty="0">
                <a:solidFill>
                  <a:schemeClr val="bg1"/>
                </a:solidFill>
                <a:latin typeface="Bahnschrift SemiBold SemiConden" panose="020B0502040204020203" pitchFamily="34" charset="0"/>
              </a:rPr>
              <a:t> Its primary goal is to enhance the efficiency of medical service delivery, provide more accurate and personalized diagnoses, and empower patients to manage their own health using real-time data and advanced connectivity</a:t>
            </a:r>
            <a:r>
              <a:rPr lang="en-US" sz="2400" dirty="0">
                <a:solidFill>
                  <a:schemeClr val="bg1"/>
                </a:solidFill>
              </a:rPr>
              <a:t>.</a:t>
            </a:r>
            <a:endParaRPr lang="fr-MA" sz="2400" dirty="0">
              <a:solidFill>
                <a:schemeClr val="bg1"/>
              </a:solidFill>
            </a:endParaRPr>
          </a:p>
        </p:txBody>
      </p:sp>
    </p:spTree>
    <p:extLst>
      <p:ext uri="{BB962C8B-B14F-4D97-AF65-F5344CB8AC3E}">
        <p14:creationId xmlns:p14="http://schemas.microsoft.com/office/powerpoint/2010/main" val="57154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C22D59-6867-47EE-82A3-9A51D33EF19A}"/>
              </a:ext>
            </a:extLst>
          </p:cNvPr>
          <p:cNvSpPr>
            <a:spLocks noGrp="1"/>
          </p:cNvSpPr>
          <p:nvPr>
            <p:ph type="title"/>
          </p:nvPr>
        </p:nvSpPr>
        <p:spPr/>
        <p:txBody>
          <a:bodyPr/>
          <a:lstStyle/>
          <a:p>
            <a:endParaRPr lang="fr-MA" dirty="0"/>
          </a:p>
        </p:txBody>
      </p:sp>
      <p:sp>
        <p:nvSpPr>
          <p:cNvPr id="4" name="Espace réservé du numéro de diapositive 3">
            <a:extLst>
              <a:ext uri="{FF2B5EF4-FFF2-40B4-BE49-F238E27FC236}">
                <a16:creationId xmlns:a16="http://schemas.microsoft.com/office/drawing/2014/main" id="{AEC27B57-95D7-483F-86CA-9CF08A9BE012}"/>
              </a:ext>
            </a:extLst>
          </p:cNvPr>
          <p:cNvSpPr>
            <a:spLocks noGrp="1"/>
          </p:cNvSpPr>
          <p:nvPr>
            <p:ph type="sldNum" sz="quarter" idx="12"/>
          </p:nvPr>
        </p:nvSpPr>
        <p:spPr/>
        <p:txBody>
          <a:bodyPr/>
          <a:lstStyle/>
          <a:p>
            <a:fld id="{2B17302E-DD53-41B8-8A63-148325D667CE}" type="slidenum">
              <a:rPr lang="fr-MA" smtClean="0"/>
              <a:t>3</a:t>
            </a:fld>
            <a:endParaRPr lang="fr-MA"/>
          </a:p>
        </p:txBody>
      </p:sp>
      <p:pic>
        <p:nvPicPr>
          <p:cNvPr id="3074" name="Picture 2" descr="Blue ECG line | Premium AI-generated image">
            <a:extLst>
              <a:ext uri="{FF2B5EF4-FFF2-40B4-BE49-F238E27FC236}">
                <a16:creationId xmlns:a16="http://schemas.microsoft.com/office/drawing/2014/main" id="{753D46D3-17F8-404C-A2EA-F814860475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279" y="0"/>
            <a:ext cx="12192000" cy="6994526"/>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E8679837-B1B2-4386-9B28-04688F04EE0A}"/>
              </a:ext>
            </a:extLst>
          </p:cNvPr>
          <p:cNvSpPr txBox="1"/>
          <p:nvPr/>
        </p:nvSpPr>
        <p:spPr>
          <a:xfrm>
            <a:off x="1191933" y="1088024"/>
            <a:ext cx="4186106" cy="4708981"/>
          </a:xfrm>
          <a:prstGeom prst="rect">
            <a:avLst/>
          </a:prstGeom>
          <a:noFill/>
        </p:spPr>
        <p:txBody>
          <a:bodyPr wrap="square" rtlCol="0">
            <a:spAutoFit/>
          </a:bodyPr>
          <a:lstStyle/>
          <a:p>
            <a:r>
              <a:rPr lang="en-US" sz="2000" dirty="0">
                <a:solidFill>
                  <a:schemeClr val="bg1"/>
                </a:solidFill>
                <a:latin typeface="Bodoni MT Condensed" panose="02070606080606020203" pitchFamily="18" charset="0"/>
              </a:rPr>
              <a:t>1. Early and Accurate </a:t>
            </a:r>
            <a:r>
              <a:rPr lang="en-US" sz="2000" dirty="0" err="1">
                <a:solidFill>
                  <a:schemeClr val="bg1"/>
                </a:solidFill>
                <a:latin typeface="Bodoni MT Condensed" panose="02070606080606020203" pitchFamily="18" charset="0"/>
              </a:rPr>
              <a:t>Diagnosis:AI</a:t>
            </a:r>
            <a:r>
              <a:rPr lang="en-US" sz="2000" dirty="0">
                <a:solidFill>
                  <a:schemeClr val="bg1"/>
                </a:solidFill>
                <a:latin typeface="Bodoni MT Condensed" panose="02070606080606020203" pitchFamily="18" charset="0"/>
              </a:rPr>
              <a:t> algorithms can analyze medical images (like X-rays and MRIs) faster and more accurately than humans, helping to detect diseases like cancer at very early stages.</a:t>
            </a:r>
          </a:p>
          <a:p>
            <a:r>
              <a:rPr lang="en-US" sz="2000" dirty="0">
                <a:solidFill>
                  <a:schemeClr val="bg1"/>
                </a:solidFill>
                <a:latin typeface="Bodoni MT Condensed" panose="02070606080606020203" pitchFamily="18" charset="0"/>
              </a:rPr>
              <a:t>2. Personalized </a:t>
            </a:r>
            <a:r>
              <a:rPr lang="en-US" sz="2000" dirty="0" err="1">
                <a:solidFill>
                  <a:schemeClr val="bg1"/>
                </a:solidFill>
                <a:latin typeface="Bodoni MT Condensed" panose="02070606080606020203" pitchFamily="18" charset="0"/>
              </a:rPr>
              <a:t>Medicine:AI</a:t>
            </a:r>
            <a:r>
              <a:rPr lang="en-US" sz="2000" dirty="0">
                <a:solidFill>
                  <a:schemeClr val="bg1"/>
                </a:solidFill>
                <a:latin typeface="Bodoni MT Condensed" panose="02070606080606020203" pitchFamily="18" charset="0"/>
              </a:rPr>
              <a:t> helps doctors create "tailored" treatment plans based on a patient’s specific genetic data and lifestyle, ensuring more effective results for each individual.</a:t>
            </a:r>
          </a:p>
          <a:p>
            <a:r>
              <a:rPr lang="en-US" sz="2000" dirty="0">
                <a:solidFill>
                  <a:schemeClr val="bg1"/>
                </a:solidFill>
                <a:latin typeface="Bodoni MT Condensed" panose="02070606080606020203" pitchFamily="18" charset="0"/>
              </a:rPr>
              <a:t>3. Remote Patient </a:t>
            </a:r>
            <a:r>
              <a:rPr lang="en-US" sz="2000" dirty="0" err="1">
                <a:solidFill>
                  <a:schemeClr val="bg1"/>
                </a:solidFill>
                <a:latin typeface="Bodoni MT Condensed" panose="02070606080606020203" pitchFamily="18" charset="0"/>
              </a:rPr>
              <a:t>Monitoring:Through</a:t>
            </a:r>
            <a:r>
              <a:rPr lang="en-US" sz="2000" dirty="0">
                <a:solidFill>
                  <a:schemeClr val="bg1"/>
                </a:solidFill>
                <a:latin typeface="Bodoni MT Condensed" panose="02070606080606020203" pitchFamily="18" charset="0"/>
              </a:rPr>
              <a:t> wearable devices (like smartwatches), AI allows constant 24/7 monitoring of patients, providing real-time data to doctors without the need for hospital stays. </a:t>
            </a:r>
          </a:p>
          <a:p>
            <a:r>
              <a:rPr lang="en-US" sz="2000" dirty="0">
                <a:solidFill>
                  <a:schemeClr val="bg1"/>
                </a:solidFill>
                <a:latin typeface="Bodoni MT Condensed" panose="02070606080606020203" pitchFamily="18" charset="0"/>
              </a:rPr>
              <a:t>4. Increasing </a:t>
            </a:r>
            <a:r>
              <a:rPr lang="en-US" sz="2000" dirty="0" err="1">
                <a:solidFill>
                  <a:schemeClr val="bg1"/>
                </a:solidFill>
                <a:latin typeface="Bodoni MT Condensed" panose="02070606080606020203" pitchFamily="18" charset="0"/>
              </a:rPr>
              <a:t>Efficiency:AI</a:t>
            </a:r>
            <a:r>
              <a:rPr lang="en-US" sz="2000" dirty="0">
                <a:solidFill>
                  <a:schemeClr val="bg1"/>
                </a:solidFill>
                <a:latin typeface="Bodoni MT Condensed" panose="02070606080606020203" pitchFamily="18" charset="0"/>
              </a:rPr>
              <a:t> automates administrative tasks and speeds up data analysis, allowing medical professionals to focus more on direct patient care</a:t>
            </a:r>
            <a:endParaRPr lang="fr-MA" sz="2000" dirty="0">
              <a:solidFill>
                <a:schemeClr val="bg1"/>
              </a:solidFill>
              <a:latin typeface="Bodoni MT Condensed" panose="02070606080606020203" pitchFamily="18" charset="0"/>
            </a:endParaRPr>
          </a:p>
        </p:txBody>
      </p:sp>
      <p:sp>
        <p:nvSpPr>
          <p:cNvPr id="6" name="ZoneTexte 5">
            <a:extLst>
              <a:ext uri="{FF2B5EF4-FFF2-40B4-BE49-F238E27FC236}">
                <a16:creationId xmlns:a16="http://schemas.microsoft.com/office/drawing/2014/main" id="{CDC26FDF-12CD-4771-9901-BD1862C06E85}"/>
              </a:ext>
            </a:extLst>
          </p:cNvPr>
          <p:cNvSpPr txBox="1"/>
          <p:nvPr/>
        </p:nvSpPr>
        <p:spPr>
          <a:xfrm>
            <a:off x="1113638" y="622373"/>
            <a:ext cx="3905075" cy="369332"/>
          </a:xfrm>
          <a:prstGeom prst="rect">
            <a:avLst/>
          </a:prstGeom>
          <a:noFill/>
        </p:spPr>
        <p:txBody>
          <a:bodyPr wrap="square" rtlCol="0">
            <a:spAutoFit/>
          </a:bodyPr>
          <a:lstStyle/>
          <a:p>
            <a:pPr algn="ctr"/>
            <a:r>
              <a:rPr lang="en-US" b="1" dirty="0">
                <a:solidFill>
                  <a:schemeClr val="accent5">
                    <a:lumMod val="50000"/>
                  </a:schemeClr>
                </a:solidFill>
                <a:highlight>
                  <a:srgbClr val="00FFFF"/>
                </a:highlight>
                <a:latin typeface="Bodoni MT Condensed" panose="02070606080606020203" pitchFamily="18" charset="0"/>
              </a:rPr>
              <a:t>OPPORTUNITIES OF AI IN HEALTHCARE</a:t>
            </a:r>
            <a:endParaRPr lang="fr-MA" b="1" dirty="0">
              <a:solidFill>
                <a:schemeClr val="accent5">
                  <a:lumMod val="50000"/>
                </a:schemeClr>
              </a:solidFill>
              <a:highlight>
                <a:srgbClr val="00FFFF"/>
              </a:highlight>
              <a:latin typeface="Bodoni MT Condensed" panose="02070606080606020203" pitchFamily="18" charset="0"/>
            </a:endParaRPr>
          </a:p>
        </p:txBody>
      </p:sp>
      <p:sp>
        <p:nvSpPr>
          <p:cNvPr id="7" name="Rectangle : coins arrondis 6">
            <a:extLst>
              <a:ext uri="{FF2B5EF4-FFF2-40B4-BE49-F238E27FC236}">
                <a16:creationId xmlns:a16="http://schemas.microsoft.com/office/drawing/2014/main" id="{976B5172-7064-4FE6-9D59-A1FD11B98F70}"/>
              </a:ext>
            </a:extLst>
          </p:cNvPr>
          <p:cNvSpPr/>
          <p:nvPr/>
        </p:nvSpPr>
        <p:spPr>
          <a:xfrm>
            <a:off x="973122" y="1033048"/>
            <a:ext cx="4311941" cy="4939913"/>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 name="ZoneTexte 9">
            <a:extLst>
              <a:ext uri="{FF2B5EF4-FFF2-40B4-BE49-F238E27FC236}">
                <a16:creationId xmlns:a16="http://schemas.microsoft.com/office/drawing/2014/main" id="{CEF006E3-5279-414E-8907-6F20B23D26E8}"/>
              </a:ext>
            </a:extLst>
          </p:cNvPr>
          <p:cNvSpPr txBox="1"/>
          <p:nvPr/>
        </p:nvSpPr>
        <p:spPr>
          <a:xfrm>
            <a:off x="6644082" y="1088024"/>
            <a:ext cx="4253217" cy="4708981"/>
          </a:xfrm>
          <a:prstGeom prst="rect">
            <a:avLst/>
          </a:prstGeom>
          <a:noFill/>
        </p:spPr>
        <p:txBody>
          <a:bodyPr wrap="square" rtlCol="0">
            <a:spAutoFit/>
          </a:bodyPr>
          <a:lstStyle/>
          <a:p>
            <a:r>
              <a:rPr lang="en-US" dirty="0">
                <a:solidFill>
                  <a:schemeClr val="bg1"/>
                </a:solidFill>
              </a:rPr>
              <a:t>   </a:t>
            </a:r>
            <a:r>
              <a:rPr lang="en-US" sz="2000" dirty="0">
                <a:solidFill>
                  <a:schemeClr val="bg1"/>
                </a:solidFill>
                <a:latin typeface="Bodoni MT Condensed" panose="02070606080606020203" pitchFamily="18" charset="0"/>
              </a:rPr>
              <a:t>1. Data Privacy and </a:t>
            </a:r>
            <a:r>
              <a:rPr lang="en-US" sz="2000" dirty="0" err="1">
                <a:solidFill>
                  <a:schemeClr val="bg1"/>
                </a:solidFill>
                <a:latin typeface="Bodoni MT Condensed" panose="02070606080606020203" pitchFamily="18" charset="0"/>
              </a:rPr>
              <a:t>Security:Protecting</a:t>
            </a:r>
            <a:r>
              <a:rPr lang="en-US" sz="2000" dirty="0">
                <a:solidFill>
                  <a:schemeClr val="bg1"/>
                </a:solidFill>
                <a:latin typeface="Bodoni MT Condensed" panose="02070606080606020203" pitchFamily="18" charset="0"/>
              </a:rPr>
              <a:t> sensitive medical records is a major concern. There is a constant risk of data breaches or hacking of private patient information.</a:t>
            </a:r>
          </a:p>
          <a:p>
            <a:r>
              <a:rPr lang="en-US" sz="2000" dirty="0">
                <a:solidFill>
                  <a:schemeClr val="bg1"/>
                </a:solidFill>
                <a:latin typeface="Bodoni MT Condensed" panose="02070606080606020203" pitchFamily="18" charset="0"/>
              </a:rPr>
              <a:t>2. Algorithmic </a:t>
            </a:r>
            <a:r>
              <a:rPr lang="en-US" sz="2000" dirty="0" err="1">
                <a:solidFill>
                  <a:schemeClr val="bg1"/>
                </a:solidFill>
                <a:latin typeface="Bodoni MT Condensed" panose="02070606080606020203" pitchFamily="18" charset="0"/>
              </a:rPr>
              <a:t>Bias:If</a:t>
            </a:r>
            <a:r>
              <a:rPr lang="en-US" sz="2000" dirty="0">
                <a:solidFill>
                  <a:schemeClr val="bg1"/>
                </a:solidFill>
                <a:latin typeface="Bodoni MT Condensed" panose="02070606080606020203" pitchFamily="18" charset="0"/>
              </a:rPr>
              <a:t> the AI is trained on biased or incomplete data, it may provide unfair or inaccurate results for certain groups of patients.</a:t>
            </a:r>
          </a:p>
          <a:p>
            <a:r>
              <a:rPr lang="en-US" sz="2000" dirty="0">
                <a:solidFill>
                  <a:schemeClr val="bg1"/>
                </a:solidFill>
                <a:latin typeface="Bodoni MT Condensed" panose="02070606080606020203" pitchFamily="18" charset="0"/>
              </a:rPr>
              <a:t>3. Lack of Human </a:t>
            </a:r>
            <a:r>
              <a:rPr lang="en-US" sz="2000" dirty="0" err="1">
                <a:solidFill>
                  <a:schemeClr val="bg1"/>
                </a:solidFill>
                <a:latin typeface="Bodoni MT Condensed" panose="02070606080606020203" pitchFamily="18" charset="0"/>
              </a:rPr>
              <a:t>Empathy:AI</a:t>
            </a:r>
            <a:r>
              <a:rPr lang="en-US" sz="2000" dirty="0">
                <a:solidFill>
                  <a:schemeClr val="bg1"/>
                </a:solidFill>
                <a:latin typeface="Bodoni MT Condensed" panose="02070606080606020203" pitchFamily="18" charset="0"/>
              </a:rPr>
              <a:t> cannot replace the "Human Touch." Machines lack the emotional understanding and empathy that are essential for the doctor-patient relationship.</a:t>
            </a:r>
          </a:p>
          <a:p>
            <a:r>
              <a:rPr lang="en-US" sz="2000" dirty="0">
                <a:solidFill>
                  <a:schemeClr val="bg1"/>
                </a:solidFill>
                <a:latin typeface="Bodoni MT Condensed" panose="02070606080606020203" pitchFamily="18" charset="0"/>
              </a:rPr>
              <a:t>4. High Implementation </a:t>
            </a:r>
            <a:r>
              <a:rPr lang="en-US" sz="2000" dirty="0" err="1">
                <a:solidFill>
                  <a:schemeClr val="bg1"/>
                </a:solidFill>
                <a:latin typeface="Bodoni MT Condensed" panose="02070606080606020203" pitchFamily="18" charset="0"/>
              </a:rPr>
              <a:t>Costs:Adopting</a:t>
            </a:r>
            <a:r>
              <a:rPr lang="en-US" sz="2000" dirty="0">
                <a:solidFill>
                  <a:schemeClr val="bg1"/>
                </a:solidFill>
                <a:latin typeface="Bodoni MT Condensed" panose="02070606080606020203" pitchFamily="18" charset="0"/>
              </a:rPr>
              <a:t> AI technologies requires expensive infrastructure and specialized training for medical staff, which can be a barrier for many hospitals</a:t>
            </a:r>
            <a:endParaRPr lang="fr-MA" sz="2000" dirty="0">
              <a:solidFill>
                <a:schemeClr val="bg1"/>
              </a:solidFill>
              <a:latin typeface="Bodoni MT Condensed" panose="02070606080606020203" pitchFamily="18" charset="0"/>
            </a:endParaRPr>
          </a:p>
        </p:txBody>
      </p:sp>
      <p:sp>
        <p:nvSpPr>
          <p:cNvPr id="11" name="Rectangle : coins arrondis 10">
            <a:extLst>
              <a:ext uri="{FF2B5EF4-FFF2-40B4-BE49-F238E27FC236}">
                <a16:creationId xmlns:a16="http://schemas.microsoft.com/office/drawing/2014/main" id="{B8465342-7433-4A6D-94B5-F591655E5A17}"/>
              </a:ext>
            </a:extLst>
          </p:cNvPr>
          <p:cNvSpPr/>
          <p:nvPr/>
        </p:nvSpPr>
        <p:spPr>
          <a:xfrm>
            <a:off x="6610526" y="991705"/>
            <a:ext cx="4286773" cy="4939913"/>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2" name="ZoneTexte 11">
            <a:extLst>
              <a:ext uri="{FF2B5EF4-FFF2-40B4-BE49-F238E27FC236}">
                <a16:creationId xmlns:a16="http://schemas.microsoft.com/office/drawing/2014/main" id="{94B0CCB1-119F-437C-A00A-7568D621386E}"/>
              </a:ext>
            </a:extLst>
          </p:cNvPr>
          <p:cNvSpPr txBox="1"/>
          <p:nvPr/>
        </p:nvSpPr>
        <p:spPr>
          <a:xfrm>
            <a:off x="7503253" y="587826"/>
            <a:ext cx="2764872" cy="369332"/>
          </a:xfrm>
          <a:prstGeom prst="rect">
            <a:avLst/>
          </a:prstGeom>
          <a:noFill/>
        </p:spPr>
        <p:txBody>
          <a:bodyPr wrap="square" rtlCol="0">
            <a:spAutoFit/>
          </a:bodyPr>
          <a:lstStyle/>
          <a:p>
            <a:pPr algn="ctr"/>
            <a:r>
              <a:rPr lang="en-US" b="1" dirty="0">
                <a:solidFill>
                  <a:schemeClr val="accent5">
                    <a:lumMod val="50000"/>
                  </a:schemeClr>
                </a:solidFill>
                <a:highlight>
                  <a:srgbClr val="00FFFF"/>
                </a:highlight>
                <a:latin typeface="Bodoni MT Condensed" panose="02070606080606020203" pitchFamily="18" charset="0"/>
              </a:rPr>
              <a:t>Challenges of AI in Healthcare</a:t>
            </a:r>
            <a:endParaRPr lang="fr-MA" b="1" dirty="0">
              <a:solidFill>
                <a:schemeClr val="accent5">
                  <a:lumMod val="50000"/>
                </a:schemeClr>
              </a:solidFill>
              <a:highlight>
                <a:srgbClr val="00FFFF"/>
              </a:highlight>
              <a:latin typeface="Bodoni MT Condensed" panose="02070606080606020203" pitchFamily="18" charset="0"/>
            </a:endParaRPr>
          </a:p>
        </p:txBody>
      </p:sp>
    </p:spTree>
    <p:extLst>
      <p:ext uri="{BB962C8B-B14F-4D97-AF65-F5344CB8AC3E}">
        <p14:creationId xmlns:p14="http://schemas.microsoft.com/office/powerpoint/2010/main" val="101647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0" grpId="0"/>
      <p:bldP spid="11"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EEF5BD-CF5E-4CE5-9929-BF330ABD1B61}"/>
              </a:ext>
            </a:extLst>
          </p:cNvPr>
          <p:cNvSpPr>
            <a:spLocks noGrp="1"/>
          </p:cNvSpPr>
          <p:nvPr>
            <p:ph type="title"/>
          </p:nvPr>
        </p:nvSpPr>
        <p:spPr/>
        <p:txBody>
          <a:bodyPr/>
          <a:lstStyle/>
          <a:p>
            <a:endParaRPr lang="fr-MA"/>
          </a:p>
        </p:txBody>
      </p:sp>
      <p:sp>
        <p:nvSpPr>
          <p:cNvPr id="4" name="Espace réservé du numéro de diapositive 3">
            <a:extLst>
              <a:ext uri="{FF2B5EF4-FFF2-40B4-BE49-F238E27FC236}">
                <a16:creationId xmlns:a16="http://schemas.microsoft.com/office/drawing/2014/main" id="{ADC1AC91-C398-44CD-9C41-9A24F3F2F94E}"/>
              </a:ext>
            </a:extLst>
          </p:cNvPr>
          <p:cNvSpPr>
            <a:spLocks noGrp="1"/>
          </p:cNvSpPr>
          <p:nvPr>
            <p:ph type="sldNum" sz="quarter" idx="12"/>
          </p:nvPr>
        </p:nvSpPr>
        <p:spPr/>
        <p:txBody>
          <a:bodyPr/>
          <a:lstStyle/>
          <a:p>
            <a:fld id="{2B17302E-DD53-41B8-8A63-148325D667CE}" type="slidenum">
              <a:rPr lang="fr-MA" smtClean="0"/>
              <a:t>4</a:t>
            </a:fld>
            <a:endParaRPr lang="fr-MA"/>
          </a:p>
        </p:txBody>
      </p:sp>
      <p:pic>
        <p:nvPicPr>
          <p:cNvPr id="4098" name="Picture 2" descr="Blue ECG line | Premium AI-generated image">
            <a:extLst>
              <a:ext uri="{FF2B5EF4-FFF2-40B4-BE49-F238E27FC236}">
                <a16:creationId xmlns:a16="http://schemas.microsoft.com/office/drawing/2014/main" id="{0F323A32-1E08-4930-9FCD-DDDFAE4D2D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36525"/>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9ABAE6E8-505C-4922-84AF-74A9DF555380}"/>
              </a:ext>
            </a:extLst>
          </p:cNvPr>
          <p:cNvSpPr txBox="1"/>
          <p:nvPr/>
        </p:nvSpPr>
        <p:spPr>
          <a:xfrm>
            <a:off x="2620161" y="1792943"/>
            <a:ext cx="6702804" cy="3416320"/>
          </a:xfrm>
          <a:prstGeom prst="rect">
            <a:avLst/>
          </a:prstGeom>
          <a:noFill/>
        </p:spPr>
        <p:txBody>
          <a:bodyPr wrap="square" rtlCol="0">
            <a:spAutoFit/>
          </a:bodyPr>
          <a:lstStyle/>
          <a:p>
            <a:r>
              <a:rPr lang="en-US" sz="2400" dirty="0">
                <a:solidFill>
                  <a:schemeClr val="bg1"/>
                </a:solidFill>
                <a:latin typeface="Bahnschrift SemiBold SemiConden" panose="020B0502040204020203" pitchFamily="34" charset="0"/>
              </a:rPr>
              <a:t>Artificial Intelligence should be viewed as a powerful assistant that enhances medical capabilities rather than a replacement for doctors. The future of healthcare lies in a hybrid approach, where a perfect balance is maintained between advanced technology and human expertise. As we embrace this digital innovation, we must remain committed to protecting patient privacy and preserving the essential 'human touch' that lies at the heart of medicine.</a:t>
            </a:r>
            <a:endParaRPr lang="fr-MA" sz="2400" dirty="0">
              <a:solidFill>
                <a:schemeClr val="bg1"/>
              </a:solidFill>
              <a:latin typeface="Bahnschrift SemiBold SemiConden" panose="020B0502040204020203" pitchFamily="34" charset="0"/>
            </a:endParaRPr>
          </a:p>
        </p:txBody>
      </p:sp>
      <p:sp>
        <p:nvSpPr>
          <p:cNvPr id="7" name="ZoneTexte 6">
            <a:extLst>
              <a:ext uri="{FF2B5EF4-FFF2-40B4-BE49-F238E27FC236}">
                <a16:creationId xmlns:a16="http://schemas.microsoft.com/office/drawing/2014/main" id="{D3F869A4-1D01-45AA-ABA7-79A8EFEEFA7F}"/>
              </a:ext>
            </a:extLst>
          </p:cNvPr>
          <p:cNvSpPr txBox="1"/>
          <p:nvPr/>
        </p:nvSpPr>
        <p:spPr>
          <a:xfrm>
            <a:off x="4545434" y="1272459"/>
            <a:ext cx="2852257" cy="584775"/>
          </a:xfrm>
          <a:prstGeom prst="rect">
            <a:avLst/>
          </a:prstGeom>
          <a:noFill/>
        </p:spPr>
        <p:txBody>
          <a:bodyPr wrap="square" rtlCol="0">
            <a:spAutoFit/>
          </a:bodyPr>
          <a:lstStyle/>
          <a:p>
            <a:pPr algn="ctr"/>
            <a:r>
              <a:rPr lang="fr-FR" sz="3200" b="1" dirty="0">
                <a:solidFill>
                  <a:schemeClr val="accent5">
                    <a:lumMod val="50000"/>
                  </a:schemeClr>
                </a:solidFill>
                <a:highlight>
                  <a:srgbClr val="00FFFF"/>
                </a:highlight>
                <a:latin typeface="Bodoni MT Condensed" panose="02070606080606020203" pitchFamily="18" charset="0"/>
              </a:rPr>
              <a:t>CONCLUSION</a:t>
            </a:r>
            <a:endParaRPr lang="fr-MA" sz="3200" b="1" dirty="0">
              <a:solidFill>
                <a:schemeClr val="accent5">
                  <a:lumMod val="50000"/>
                </a:schemeClr>
              </a:solidFill>
              <a:highlight>
                <a:srgbClr val="00FFFF"/>
              </a:highlight>
              <a:latin typeface="Bodoni MT Condensed" panose="02070606080606020203" pitchFamily="18" charset="0"/>
            </a:endParaRPr>
          </a:p>
        </p:txBody>
      </p:sp>
    </p:spTree>
    <p:extLst>
      <p:ext uri="{BB962C8B-B14F-4D97-AF65-F5344CB8AC3E}">
        <p14:creationId xmlns:p14="http://schemas.microsoft.com/office/powerpoint/2010/main" val="41347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429</Words>
  <Application>Microsoft Office PowerPoint</Application>
  <PresentationFormat>Grand écran</PresentationFormat>
  <Paragraphs>26</Paragraphs>
  <Slides>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vt:i4>
      </vt:variant>
    </vt:vector>
  </HeadingPairs>
  <TitlesOfParts>
    <vt:vector size="11" baseType="lpstr">
      <vt:lpstr>Arial</vt:lpstr>
      <vt:lpstr>Bahnschrift SemiBold SemiConden</vt:lpstr>
      <vt:lpstr>Baskerville Old Face</vt:lpstr>
      <vt:lpstr>Bodoni MT Condensed</vt:lpstr>
      <vt:lpstr>Calibri</vt:lpstr>
      <vt:lpstr>Calibri Light</vt:lpstr>
      <vt:lpstr>Thème Office</vt:lpstr>
      <vt:lpstr>Digital health in the Era of Artificial Intelligence</vt:lpstr>
      <vt:lpstr>What is Digital Health ?</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health in Era of Artificial Intelligence</dc:title>
  <dc:creator>ETUDIANT</dc:creator>
  <cp:lastModifiedBy>ETUDIANT</cp:lastModifiedBy>
  <cp:revision>11</cp:revision>
  <dcterms:created xsi:type="dcterms:W3CDTF">2026-05-06T08:14:01Z</dcterms:created>
  <dcterms:modified xsi:type="dcterms:W3CDTF">2026-05-13T10:20:22Z</dcterms:modified>
</cp:coreProperties>
</file>